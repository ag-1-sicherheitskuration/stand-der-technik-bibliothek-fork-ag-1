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3903" autoAdjust="0"/>
  </p:normalViewPr>
  <p:slideViewPr>
    <p:cSldViewPr snapToGrid="0" snapToObjects="1">
      <p:cViewPr varScale="1">
        <p:scale>
          <a:sx n="85" d="100"/>
          <a:sy n="85" d="100"/>
        </p:scale>
        <p:origin x="7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3245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Zielgruppe: ISB, Verwaltungsleitung, Behördenverantwortliche.
Kein technisches Vorwissen erforderlich.
Thema: Was sind OSCAL-Komponenten, warum braucht man sie, woher kommen sie, was folgt darauf?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2 — Überblick: 7 Schritte des OSCAL-Sicherheitskreislaufs
1 Katalog: vollständige Anforderungsliste (z.B. BSI IT-Grundschutz)
2 Profil: unsere individuelle Auswahl der Anforderungen
3 Komponente: HEUTE — wie wir Anforderungen konkret erfüllen
4 SSP: Systemsicherheitsplan — Gesamtdokumentation unseres Systems
5-7: Prüfungsplan, Ergebnisse, Maßnahmenplan (POA&amp;M)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3 — Woher: Katalog und Profil
Katalog: Vollständige Anforderungsliste eines Rahmenwerks (BSI, ISO 27001).
Profil: Unsere individuelle Auswahl — beantwortet: Was müssen wir umsetzen?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4 — Was ist eine Komponente?
Definition: fertige, wiederverwendbare Beschreibung wie ein Produkt, Dienst oder eine Richtlinie eine Sicherheitsanforderung erfüllt.
Drei Typen: Software/Hardware, Dienst, Richtlinie/Prozess.
Kernbegriff: WIEDERVERWENDBAR — einmal erstellt, von vielen importierbar.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5 — Baustein-Analogie
Analogie Hausbauen: fertige Bauteile kaufen statt selbst herstellen.
Ohne Komponenten: jede Behörde arbeitet doppelt.
Mit Komponenten: AG </a:t>
            </a:r>
            <a:r>
              <a:rPr lang="en-US" dirty="0" err="1"/>
              <a:t>erstellt</a:t>
            </a:r>
            <a:r>
              <a:rPr lang="en-US" dirty="0"/>
              <a:t> einmal, alle importieren.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6 — Drei ISB-Probleme und wie Komponenten sie lösen
1: Wiederholte Neuerfassung → Import fertiger Bausteine
2: Seltene Audits → kontinuierliche automatische Prüfung
3: Doppelarbeit → gemeinsame Bibliothek (AG)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7 — Der Systemsicherheitsplan (SSP)
Der SSP ist das zentrale Sicherheitsdokument für ein konkretes IT-System.
Er importiert alle Komponentendefinitionen statt alles neu zu schreiben.
Zentrales Nachweisdokument für Audits.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8 — Prüfungsschritte nach dem SSP
5 Prüfungsplan: Was, wie und wann wird geprüft?
6 Prüfergebnisse: Befunde mit Status für jede Anforderung.
7 POA&amp;M: Offene Punkte, Fristen, Verantwortliche.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9 — Gesamtübersicht aller 7 OSCAL-Schritte
Tabelle zeigt: Modell, Kernfrage, Verantwortliche.
Schritt 3 Komponente ist hervorgehoben.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10 — Fazit
Für ISB: Import fertiger Bausteine statt Neuerfassung.
Für Behörde: Gemeinsame Bibliothek spart Ressourcen landesweit.
Dauerbetrieb: Kontinuierliche Prüfung statt Stichtagsaudits.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840480"/>
            <a:ext cx="1828800" cy="130302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0" spc="2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OSCAL · Informationssicherheit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6858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Komponenten: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58368" y="2139696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</a:t>
            </a:r>
            <a:r>
              <a:rPr lang="en-US" sz="19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</a:t>
            </a:r>
            <a:r>
              <a:rPr lang="en-US" sz="1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</a:t>
            </a:r>
            <a:r>
              <a:rPr lang="en-US" sz="1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58368" y="3090672"/>
            <a:ext cx="1828800" cy="4572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2735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Für: ISB · Verwaltungsleitung · Behördenverantwortliche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35661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i="1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Blick auf den Gesamtprozess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03920" y="480060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D1D1B"/>
          </a:solidFill>
          <a:ln w="12700">
            <a:solidFill>
              <a:srgbClr val="1D1D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54864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kern="0" spc="1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02336" y="0"/>
            <a:ext cx="8339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Reise durch den Sicherheitszyklus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49640" y="146304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498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Informationssicherheit ist kein einmaliges Projekt — sondern ein Kreislauf. 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109728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" y="1353312"/>
            <a:ext cx="438912" cy="438912"/>
          </a:xfrm>
          <a:prstGeom prst="rect">
            <a:avLst/>
          </a:prstGeom>
          <a:solidFill>
            <a:srgbClr val="1D1D1B"/>
          </a:solidFill>
          <a:ln w="12700">
            <a:solidFill>
              <a:srgbClr val="1D1D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1353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4904" y="1938528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74904" y="2450592"/>
            <a:ext cx="987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wird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verlangt?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417320" y="2788920"/>
            <a:ext cx="128016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545336" y="1188720"/>
            <a:ext cx="109728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74520" y="1353312"/>
            <a:ext cx="438912" cy="438912"/>
          </a:xfrm>
          <a:prstGeom prst="rect">
            <a:avLst/>
          </a:prstGeom>
          <a:solidFill>
            <a:srgbClr val="1D1D1B"/>
          </a:solidFill>
          <a:ln w="12700">
            <a:solidFill>
              <a:srgbClr val="1D1D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1353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1938528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600200" y="2450592"/>
            <a:ext cx="987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gilt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uns?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42616" y="2788920"/>
            <a:ext cx="128016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2770632" y="1188720"/>
            <a:ext cx="1097280" cy="3200400"/>
          </a:xfrm>
          <a:prstGeom prst="roundRect">
            <a:avLst/>
          </a:prstGeom>
          <a:solidFill>
            <a:srgbClr val="FFF8DB"/>
          </a:solidFill>
          <a:ln w="25400">
            <a:solidFill>
              <a:srgbClr val="FFC000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099816" y="1353312"/>
            <a:ext cx="438912" cy="438912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99816" y="1353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825496" y="1938528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825496" y="2450592"/>
            <a:ext cx="987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erfüllen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es?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62072" y="3822192"/>
            <a:ext cx="914400" cy="347472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62072" y="38221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67912" y="2788920"/>
            <a:ext cx="128016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3995928" y="1188720"/>
            <a:ext cx="109728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25112" y="1353312"/>
            <a:ext cx="438912" cy="438912"/>
          </a:xfrm>
          <a:prstGeom prst="rect">
            <a:avLst/>
          </a:prstGeom>
          <a:solidFill>
            <a:srgbClr val="1D1D1B"/>
          </a:solidFill>
          <a:ln w="12700">
            <a:solidFill>
              <a:srgbClr val="1D1D1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25112" y="1353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050792" y="1938528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050792" y="2450592"/>
            <a:ext cx="987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ist unser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sicher?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93208" y="2788920"/>
            <a:ext cx="128016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5221224" y="1188720"/>
            <a:ext cx="109728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50408" y="1353312"/>
            <a:ext cx="438912" cy="438912"/>
          </a:xfrm>
          <a:prstGeom prst="rect">
            <a:avLst/>
          </a:prstGeom>
          <a:solidFill>
            <a:srgbClr val="1D1D1B"/>
          </a:solidFill>
          <a:ln w="12700">
            <a:solidFill>
              <a:srgbClr val="1D1D1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50408" y="1353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276088" y="1938528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Prüfungs-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276088" y="2450592"/>
            <a:ext cx="987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wird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geprüft?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18504" y="2788920"/>
            <a:ext cx="128016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6446520" y="1188720"/>
            <a:ext cx="109728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75704" y="1353312"/>
            <a:ext cx="438912" cy="438912"/>
          </a:xfrm>
          <a:prstGeom prst="rect">
            <a:avLst/>
          </a:prstGeom>
          <a:solidFill>
            <a:srgbClr val="1D1D1B"/>
          </a:solidFill>
          <a:ln w="12700">
            <a:solidFill>
              <a:srgbClr val="1D1D1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75704" y="1353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01384" y="1938528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Ergebnisse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501384" y="2450592"/>
            <a:ext cx="987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wurde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gefunden?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543800" y="2788920"/>
            <a:ext cx="128016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arrow"/>
          </a:ln>
        </p:spPr>
      </p:sp>
      <p:sp>
        <p:nvSpPr>
          <p:cNvPr id="46" name="Shape 44"/>
          <p:cNvSpPr/>
          <p:nvPr/>
        </p:nvSpPr>
        <p:spPr>
          <a:xfrm>
            <a:off x="7671816" y="1188720"/>
            <a:ext cx="109728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01000" y="1353312"/>
            <a:ext cx="438912" cy="438912"/>
          </a:xfrm>
          <a:prstGeom prst="rect">
            <a:avLst/>
          </a:prstGeom>
          <a:solidFill>
            <a:srgbClr val="1D1D1B"/>
          </a:solidFill>
          <a:ln w="12700">
            <a:solidFill>
              <a:srgbClr val="1D1D1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01000" y="1353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726680" y="1938528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POA&amp;M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7726680" y="2450592"/>
            <a:ext cx="987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bleibt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offen?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Heute: Schritt 3 — die Komponentendefinition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D1D1B"/>
          </a:solidFill>
          <a:ln w="12700">
            <a:solidFill>
              <a:srgbClr val="1D1D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54864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kern="0" spc="1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1 + 2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02336" y="0"/>
            <a:ext cx="8339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 &amp; Profil: Die Grundlage der Anforderungen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49640" y="146304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749808"/>
            <a:ext cx="4041648" cy="4114800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1D1D1B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749808"/>
            <a:ext cx="4041648" cy="73152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950976"/>
            <a:ext cx="438912" cy="438912"/>
          </a:xfrm>
          <a:prstGeom prst="rect">
            <a:avLst/>
          </a:prstGeom>
          <a:solidFill>
            <a:srgbClr val="1D1D1B"/>
          </a:solidFill>
          <a:ln w="12700">
            <a:solidFill>
              <a:srgbClr val="1D1D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9509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42416" y="9692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42416" y="13350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 Anforderungsliste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0352" y="1737360"/>
            <a:ext cx="3675888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Katalog ist wie ein umfassendes Gesetz- oder Normbuch: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listet alle möglichen Sicherheitsanforderungen auf — ohne </a:t>
            </a:r>
            <a:r>
              <a:rPr lang="en-US" sz="1200" dirty="0" err="1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Ausnahme</a:t>
            </a: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 err="1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Beispiele</a:t>
            </a: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 Stand der Technik </a:t>
            </a:r>
            <a:r>
              <a:rPr lang="en-US" sz="1200" dirty="0" err="1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 IT-</a:t>
            </a:r>
            <a:r>
              <a:rPr lang="en-US" sz="1200" dirty="0" err="1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Grundschutz</a:t>
            </a: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 err="1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Kompendium</a:t>
            </a: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C5, C3A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 ·  NIST SP 800-53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Mensch setzt alle Anforderungen um.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Katalog ist der Ausgangspunkt.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749808"/>
            <a:ext cx="4041648" cy="4114800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1D1D1B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749808"/>
            <a:ext cx="4041648" cy="73152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82896" y="950976"/>
            <a:ext cx="438912" cy="438912"/>
          </a:xfrm>
          <a:prstGeom prst="rect">
            <a:avLst/>
          </a:prstGeom>
          <a:solidFill>
            <a:srgbClr val="1D1D1B"/>
          </a:solidFill>
          <a:ln w="12700">
            <a:solidFill>
              <a:srgbClr val="1D1D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82896" y="9509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49824" y="9692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49824" y="13350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Unsere individuelle Auswahl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0" y="1737360"/>
            <a:ext cx="3675888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Profil ist wie eine Hausordnung: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dem Katalog werden die Anforderungen ausgewählt,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für unsere Behörde oder unseren Systemtyp gelten.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Beispiele: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Mindeststandard für </a:t>
            </a:r>
            <a:r>
              <a:rPr lang="en-US" sz="1200" dirty="0" err="1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Kommunalverwaltungen</a:t>
            </a: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WIBE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Profil sagt: »Das müssen wir umsetzen.«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2336" y="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b="1" kern="0" spc="15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503920" y="914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9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eine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Komponente?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548640" y="2084832"/>
            <a:ext cx="8046720" cy="1389888"/>
          </a:xfrm>
          <a:prstGeom prst="roundRect">
            <a:avLst/>
          </a:prstGeom>
          <a:solidFill>
            <a:srgbClr val="2A2A28"/>
          </a:solidFill>
          <a:ln w="25400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57984"/>
            <a:ext cx="74980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Komponente ist eine fertige, wiederverwendbare Beschreibung,</a:t>
            </a:r>
            <a:endParaRPr lang="en-US" sz="17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ein Produkt, ein Dienst oder eine Richtlinie eine Sicherheitsanforderung erfüllt.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621024"/>
            <a:ext cx="2596896" cy="1371600"/>
          </a:xfrm>
          <a:prstGeom prst="roundRect">
            <a:avLst/>
          </a:prstGeom>
          <a:solidFill>
            <a:srgbClr val="2A2A28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621024"/>
            <a:ext cx="2596896" cy="31089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621024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b="1" dirty="0" err="1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Netzarchitektur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40233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erfüllt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Anforderung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64992" y="3621024"/>
            <a:ext cx="2596896" cy="1371600"/>
          </a:xfrm>
          <a:prstGeom prst="roundRect">
            <a:avLst/>
          </a:prstGeom>
          <a:solidFill>
            <a:srgbClr val="2A2A28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64992" y="3621024"/>
            <a:ext cx="2596896" cy="31089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3621024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40233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erfüllt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Anforderung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81344" y="3621024"/>
            <a:ext cx="2596896" cy="1371600"/>
          </a:xfrm>
          <a:prstGeom prst="roundRect">
            <a:avLst/>
          </a:prstGeom>
          <a:solidFill>
            <a:srgbClr val="2A2A28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1344" y="3621024"/>
            <a:ext cx="2596896" cy="31089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81344" y="3621024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b="1" dirty="0" err="1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Richtlinie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91072" y="40233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Passwortrichtlinie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erfüllt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Anforderung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D1D1B"/>
          </a:solidFill>
          <a:ln w="12700">
            <a:solidFill>
              <a:srgbClr val="1D1D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54864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kern="0" spc="1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02336" y="0"/>
            <a:ext cx="8339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Komponenten sind wie Bausteine für Ihr Sicherheitssystem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49640" y="146304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749808"/>
            <a:ext cx="4041648" cy="4169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1D1B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749808"/>
            <a:ext cx="4041648" cy="54864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896112"/>
            <a:ext cx="3675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Analogie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0352" y="1280160"/>
            <a:ext cx="1463040" cy="4572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444752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Stellen Sie sich vor, Sie bauen ein Haus.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30352" y="1847088"/>
            <a:ext cx="36758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müssen nicht jeden Ziegel selbst herstellen.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bestellen Fenster, Türen und Heizung beim Hersteller —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 geprüft, mit Zertifikat.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das sind OSCAL-Komponenten: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 geprüfte, dokumentierte Sicherheitsbausteine,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Sie in Ihr System einbauen.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749808"/>
            <a:ext cx="4041648" cy="4169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1D1B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749808"/>
            <a:ext cx="4041648" cy="54864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896112"/>
            <a:ext cx="3675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der Praxis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37760" y="1280160"/>
            <a:ext cx="1463040" cy="4572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44475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Komponenten (heute):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1755648"/>
            <a:ext cx="36758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5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Behörde schreibt neu auf, wie Windows Server ihre Passwortrichtlinie erfüllt — immer wieder, für jedes System.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37760" y="2651760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Komponenten: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962656"/>
            <a:ext cx="36758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5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Hersteller </a:t>
            </a:r>
            <a:r>
              <a:rPr lang="en-US" sz="1150" dirty="0" err="1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oder</a:t>
            </a:r>
            <a:r>
              <a:rPr lang="en-US" sz="115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BSI </a:t>
            </a:r>
            <a:r>
              <a:rPr lang="en-US" sz="1150" dirty="0" err="1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schreibt</a:t>
            </a:r>
            <a:r>
              <a:rPr lang="en-US" sz="115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einmal</a:t>
            </a:r>
            <a:r>
              <a:rPr lang="en-US" sz="115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Alle Behörden importieren diese fertige Beschreibung in </a:t>
            </a:r>
            <a:r>
              <a:rPr lang="en-US" sz="1150" dirty="0" err="1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ihren</a:t>
            </a:r>
            <a:r>
              <a:rPr lang="en-US" sz="115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Sicherheitsplan</a:t>
            </a:r>
            <a:r>
              <a:rPr lang="en-US" sz="115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(SSP).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37760" y="385876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Ergebnis: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4169664"/>
            <a:ext cx="36758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5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Weniger Aufwand, mehr Verlässlichkeit, automatisch prüfbar.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D1D1B"/>
          </a:solidFill>
          <a:ln w="12700">
            <a:solidFill>
              <a:srgbClr val="1D1D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54864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kern="0" spc="1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02336" y="0"/>
            <a:ext cx="8339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Komponenten für die Informationssicherheit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entscheidend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49640" y="146304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438912" cy="438912"/>
          </a:xfrm>
          <a:prstGeom prst="rect">
            <a:avLst/>
          </a:prstGeom>
          <a:solidFill>
            <a:srgbClr val="1D1D1B"/>
          </a:solidFill>
          <a:ln w="12700">
            <a:solidFill>
              <a:srgbClr val="1D1D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987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77824" y="786384"/>
            <a:ext cx="3694176" cy="1261872"/>
          </a:xfrm>
          <a:prstGeom prst="roundRect">
            <a:avLst/>
          </a:prstGeom>
          <a:solidFill>
            <a:srgbClr val="FBEAEA"/>
          </a:solidFill>
          <a:ln w="15240">
            <a:solidFill>
              <a:srgbClr val="8B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859536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heute 1 von 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1133856"/>
            <a:ext cx="3438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dokumentieren für jedes neue System von Grund auf, welche Produkte welche Anforderungen erfüllen. Das kostet Wochen — und enthält Fehler.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0016" y="1389888"/>
            <a:ext cx="237744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4992624" y="786384"/>
            <a:ext cx="3803904" cy="1261872"/>
          </a:xfrm>
          <a:prstGeom prst="roundRect">
            <a:avLst/>
          </a:prstGeom>
          <a:solidFill>
            <a:srgbClr val="EAF5EA"/>
          </a:solidFill>
          <a:ln w="15240">
            <a:solidFill>
              <a:srgbClr val="1A5C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85953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Komponenten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20640" y="1133856"/>
            <a:ext cx="3547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importieren fertige, geprüfte Bausteine. Die Grunddokumentation ist in Minuten erledigt.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2395728"/>
            <a:ext cx="438912" cy="438912"/>
          </a:xfrm>
          <a:prstGeom prst="rect">
            <a:avLst/>
          </a:prstGeom>
          <a:solidFill>
            <a:srgbClr val="1D1D1B"/>
          </a:solidFill>
          <a:ln w="12700">
            <a:solidFill>
              <a:srgbClr val="1D1D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395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77824" y="2194560"/>
            <a:ext cx="3694176" cy="1261872"/>
          </a:xfrm>
          <a:prstGeom prst="roundRect">
            <a:avLst/>
          </a:prstGeom>
          <a:solidFill>
            <a:srgbClr val="FBEAEA"/>
          </a:solidFill>
          <a:ln w="15240">
            <a:solidFill>
              <a:srgbClr val="8B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2267712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heute 2 von 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05840" y="2542032"/>
            <a:ext cx="3438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finden nur alle 2–3 Jahre statt, weil die manuelle Prüfung zu aufwändig ist. Dazwischen wissen Sie nicht, ob Ihre Dokumentation noch stimmt.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0016" y="2798064"/>
            <a:ext cx="237744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4992624" y="2194560"/>
            <a:ext cx="3803904" cy="1261872"/>
          </a:xfrm>
          <a:prstGeom prst="roundRect">
            <a:avLst/>
          </a:prstGeom>
          <a:solidFill>
            <a:srgbClr val="EAF5EA"/>
          </a:solidFill>
          <a:ln w="15240">
            <a:solidFill>
              <a:srgbClr val="1A5C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226771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Komponenten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20640" y="2542032"/>
            <a:ext cx="3547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können maschinenlesbare Komponenten automatisch prüfen — kontinuierlich, nicht nur beim nächsten Audit.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" y="3803904"/>
            <a:ext cx="438912" cy="438912"/>
          </a:xfrm>
          <a:prstGeom prst="rect">
            <a:avLst/>
          </a:prstGeom>
          <a:solidFill>
            <a:srgbClr val="1D1D1B"/>
          </a:solidFill>
          <a:ln w="12700">
            <a:solidFill>
              <a:srgbClr val="1D1D1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8039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77824" y="3602736"/>
            <a:ext cx="3694176" cy="1261872"/>
          </a:xfrm>
          <a:prstGeom prst="roundRect">
            <a:avLst/>
          </a:prstGeom>
          <a:solidFill>
            <a:srgbClr val="FBEAEA"/>
          </a:solidFill>
          <a:ln w="15240">
            <a:solidFill>
              <a:srgbClr val="8B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3675888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heute 3 von 3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05840" y="3950208"/>
            <a:ext cx="3438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Benachbarte Behörden lösen dasselbe Problem (z. B. Windows-Konfiguration) auf ihre eigene Art — ohne zu wissen, was die andere getan hat.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0016" y="4206240"/>
            <a:ext cx="237744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4992624" y="3602736"/>
            <a:ext cx="3803904" cy="1261872"/>
          </a:xfrm>
          <a:prstGeom prst="roundRect">
            <a:avLst/>
          </a:prstGeom>
          <a:solidFill>
            <a:srgbClr val="EAF5EA"/>
          </a:solidFill>
          <a:ln w="15240">
            <a:solidFill>
              <a:srgbClr val="1A5C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3675888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Komponenten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120640" y="3950208"/>
            <a:ext cx="3547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 </a:t>
            </a:r>
            <a:r>
              <a:rPr lang="en-US" sz="1100" dirty="0" err="1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stellt</a:t>
            </a:r>
            <a:r>
              <a:rPr lang="en-US" sz="11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geprüfte Lösungen für alle bereit. Keine doppelte Arbeit.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D1D1B"/>
          </a:solidFill>
          <a:ln w="12700">
            <a:solidFill>
              <a:srgbClr val="1D1D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54864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kern="0" spc="1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02336" y="0"/>
            <a:ext cx="8339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Systemsicherheitsplan: Alle Bausteine zusammengefügt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49640" y="146304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680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Komponenten sind die Zutaten. Der Systemsicherheitsplan (SSP) ist das fertige Gericht.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7472" y="1261872"/>
            <a:ext cx="2377440" cy="7680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261872"/>
            <a:ext cx="54864" cy="76809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353312"/>
            <a:ext cx="17922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WLAN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7472" y="2157984"/>
            <a:ext cx="2377440" cy="7680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2157984"/>
            <a:ext cx="54864" cy="76809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2249424"/>
            <a:ext cx="17922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 err="1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Netzwerk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7472" y="3054096"/>
            <a:ext cx="2377440" cy="7680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3054096"/>
            <a:ext cx="54864" cy="76809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3145536"/>
            <a:ext cx="17922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7472" y="3950208"/>
            <a:ext cx="2377440" cy="7680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3950208"/>
            <a:ext cx="54864" cy="76809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4041648"/>
            <a:ext cx="17922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 err="1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Richtlinie</a:t>
            </a:r>
            <a:r>
              <a:rPr lang="en-US" sz="115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Passwörter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79776" y="2596896"/>
            <a:ext cx="749808" cy="0"/>
          </a:xfrm>
          <a:prstGeom prst="line">
            <a:avLst/>
          </a:prstGeom>
          <a:noFill/>
          <a:ln w="38100">
            <a:solidFill>
              <a:srgbClr val="1D1D1B"/>
            </a:solidFill>
            <a:prstDash val="solid"/>
            <a:tailEnd type="arrow"/>
          </a:ln>
        </p:spPr>
      </p:sp>
      <p:sp>
        <p:nvSpPr>
          <p:cNvPr id="21" name="Text 19"/>
          <p:cNvSpPr/>
          <p:nvPr/>
        </p:nvSpPr>
        <p:spPr>
          <a:xfrm>
            <a:off x="2743200" y="287121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werden</a:t>
            </a:r>
            <a:endParaRPr lang="en-US" sz="9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importiert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584448" y="1133856"/>
            <a:ext cx="521208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1D1B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584448" y="1133856"/>
            <a:ext cx="5212080" cy="73152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49040" y="1316736"/>
            <a:ext cx="438912" cy="438912"/>
          </a:xfrm>
          <a:prstGeom prst="rect">
            <a:avLst/>
          </a:prstGeom>
          <a:solidFill>
            <a:srgbClr val="1D1D1B"/>
          </a:solidFill>
          <a:ln w="12700">
            <a:solidFill>
              <a:srgbClr val="1D1D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13167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334256" y="1353312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Systemsicherheitsplan (SSP)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334256" y="1700784"/>
            <a:ext cx="4279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Security Plan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49040" y="2139696"/>
            <a:ext cx="54864" cy="329184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13632" y="2139696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Beschreibt das </a:t>
            </a:r>
            <a:r>
              <a:rPr lang="en-US" sz="1150" dirty="0" err="1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</a:t>
            </a:r>
            <a:r>
              <a:rPr lang="en-US" sz="115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Netzwerk</a:t>
            </a:r>
            <a:r>
              <a:rPr lang="en-US" sz="115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einer</a:t>
            </a:r>
            <a:r>
              <a:rPr lang="en-US" sz="115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Behörde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749040" y="2615184"/>
            <a:ext cx="54864" cy="329184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13632" y="2615184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Listet alle eingesetzten Komponenten auf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749040" y="3090672"/>
            <a:ext cx="54864" cy="329184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13632" y="3090672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Zeigt zu jeder Anforderung: </a:t>
            </a:r>
            <a:r>
              <a:rPr lang="en-US" sz="115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</a:t>
            </a:r>
            <a:r>
              <a:rPr lang="en-US" sz="115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ist verantwortlich, wie umgesetzt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749040" y="3566160"/>
            <a:ext cx="54864" cy="329184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13632" y="356616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Importiert fertige Komponentendefinitionen statt Neuerfassung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749040" y="4041648"/>
            <a:ext cx="54864" cy="329184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13632" y="4041648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Zentrales Dokument für Audits und Nachweise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D1D1B"/>
          </a:solidFill>
          <a:ln w="12700">
            <a:solidFill>
              <a:srgbClr val="1D1D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54864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kern="0" spc="1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5–7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02336" y="0"/>
            <a:ext cx="8339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Prüfen, Nachweisen, Verbessern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49640" y="146304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6809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den SSP folgen drei Prüfungsschritte — alle maschinenlesbar, alle auf SSP und Komponenten aufbauend.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7472" y="1261872"/>
            <a:ext cx="2761488" cy="3547872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1D1D1B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261872"/>
            <a:ext cx="2761488" cy="54864"/>
          </a:xfrm>
          <a:prstGeom prst="rect">
            <a:avLst/>
          </a:prstGeom>
          <a:solidFill>
            <a:srgbClr val="1D1D1B"/>
          </a:solidFill>
          <a:ln w="12700">
            <a:solidFill>
              <a:srgbClr val="1D1D1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" y="1444752"/>
            <a:ext cx="438912" cy="438912"/>
          </a:xfrm>
          <a:prstGeom prst="rect">
            <a:avLst/>
          </a:prstGeom>
          <a:solidFill>
            <a:srgbClr val="1D1D1B"/>
          </a:solidFill>
          <a:ln w="12700">
            <a:solidFill>
              <a:srgbClr val="1D1D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1444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04825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Prüfungsplan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237744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Plan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2542032" cy="402336"/>
          </a:xfrm>
          <a:prstGeom prst="rect">
            <a:avLst/>
          </a:prstGeom>
          <a:solidFill>
            <a:srgbClr val="1D1D1B"/>
          </a:solidFill>
          <a:ln w="12700">
            <a:solidFill>
              <a:srgbClr val="1D1D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2706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wird wann wie geprüft?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218688"/>
            <a:ext cx="254203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Prüfungsplan beschreibt Methoden, Umfang und Zeitplan einer Prüfung. Er referenziert direkt die Anforderungen aus dem SSP.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1261872"/>
            <a:ext cx="2761488" cy="3547872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1D1D1B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1261872"/>
            <a:ext cx="2761488" cy="54864"/>
          </a:xfrm>
          <a:prstGeom prst="rect">
            <a:avLst/>
          </a:prstGeom>
          <a:solidFill>
            <a:srgbClr val="1D1D1B"/>
          </a:solidFill>
          <a:ln w="12700">
            <a:solidFill>
              <a:srgbClr val="1D1D1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38144" y="1444752"/>
            <a:ext cx="438912" cy="438912"/>
          </a:xfrm>
          <a:prstGeom prst="rect">
            <a:avLst/>
          </a:prstGeom>
          <a:solidFill>
            <a:srgbClr val="1D1D1B"/>
          </a:solidFill>
          <a:ln w="12700">
            <a:solidFill>
              <a:srgbClr val="1D1D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38144" y="1444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01568" y="204825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Prüfergebnisse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01568" y="237744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Results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01568" y="2706624"/>
            <a:ext cx="2542032" cy="402336"/>
          </a:xfrm>
          <a:prstGeom prst="rect">
            <a:avLst/>
          </a:prstGeom>
          <a:solidFill>
            <a:srgbClr val="1D1D1B"/>
          </a:solidFill>
          <a:ln w="12700">
            <a:solidFill>
              <a:srgbClr val="1D1D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38144" y="2706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wurde tatsächlich gefunden?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01568" y="3218688"/>
            <a:ext cx="254203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Prüfergebnisse dokumentieren alle Befunde und Beobachtungen. Jede geprüfte Anforderung erhält einen Status.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36208" y="1261872"/>
            <a:ext cx="2761488" cy="3547872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1D1D1B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36208" y="1261872"/>
            <a:ext cx="2761488" cy="54864"/>
          </a:xfrm>
          <a:prstGeom prst="rect">
            <a:avLst/>
          </a:prstGeom>
          <a:solidFill>
            <a:srgbClr val="BD1622"/>
          </a:solidFill>
          <a:ln w="12700">
            <a:solidFill>
              <a:srgbClr val="BD16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82512" y="1444752"/>
            <a:ext cx="438912" cy="438912"/>
          </a:xfrm>
          <a:prstGeom prst="rect">
            <a:avLst/>
          </a:prstGeom>
          <a:solidFill>
            <a:srgbClr val="BD1622"/>
          </a:solidFill>
          <a:ln w="12700">
            <a:solidFill>
              <a:srgbClr val="BD16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82512" y="1444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45936" y="204825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Maßnahmenplan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345936" y="237744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*Plan of Action &amp; Milestones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45936" y="2706624"/>
            <a:ext cx="2542032" cy="402336"/>
          </a:xfrm>
          <a:prstGeom prst="rect">
            <a:avLst/>
          </a:prstGeom>
          <a:solidFill>
            <a:srgbClr val="BD1622"/>
          </a:solidFill>
          <a:ln w="12700">
            <a:solidFill>
              <a:srgbClr val="BD16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82512" y="2706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bleibt offen — bis wann?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45936" y="3218688"/>
            <a:ext cx="254203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Maßnahmenplan (POA&amp;M)* verfolgt offene Feststellungen und geplante Korrekturen mit Fristen und </a:t>
            </a:r>
            <a:r>
              <a:rPr lang="en-US" sz="1100" dirty="0" err="1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Verantwortlichen</a:t>
            </a:r>
            <a:r>
              <a:rPr lang="en-US" sz="11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D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2336" y="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b="1" kern="0" spc="15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zusammen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2336" y="0"/>
            <a:ext cx="8339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kontinuierlicher Sicherheitskreislauf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503920" y="10972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9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kontinuierlicher Sicherheitskreislauf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47472" y="1335024"/>
            <a:ext cx="8449056" cy="347472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33502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78992" y="13350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OSCAL-Modell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79776" y="1335024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711696" y="13350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Verantwortlich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1737360"/>
            <a:ext cx="8449056" cy="438912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" y="1828800"/>
            <a:ext cx="274320" cy="27432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8992" y="17739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779776" y="177393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Anforderungen existieren?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711696" y="17739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BSI, Normungsgremien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2194560"/>
            <a:ext cx="8449056" cy="438912"/>
          </a:xfrm>
          <a:prstGeom prst="rect">
            <a:avLst/>
          </a:prstGeom>
          <a:solidFill>
            <a:srgbClr val="202020"/>
          </a:solidFill>
          <a:ln w="12700">
            <a:solidFill>
              <a:srgbClr val="2020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0624" y="2286000"/>
            <a:ext cx="274320" cy="27432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78992" y="22311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779776" y="223113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Anforderungen gelten für uns?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11696" y="22311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Landesbehörden, ISB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7472" y="2651760"/>
            <a:ext cx="8449056" cy="438912"/>
          </a:xfrm>
          <a:prstGeom prst="rect">
            <a:avLst/>
          </a:prstGeom>
          <a:solidFill>
            <a:srgbClr val="2A2800"/>
          </a:solidFill>
          <a:ln w="12700">
            <a:solidFill>
              <a:srgbClr val="2A28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2651760"/>
            <a:ext cx="54864" cy="438912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0624" y="2743200"/>
            <a:ext cx="274320" cy="27432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78992" y="26883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779776" y="268833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erfüllen wir die Anforderungen?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11696" y="26883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Hersteller, ISB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7472" y="3108960"/>
            <a:ext cx="8449056" cy="438912"/>
          </a:xfrm>
          <a:prstGeom prst="rect">
            <a:avLst/>
          </a:prstGeom>
          <a:solidFill>
            <a:srgbClr val="202020"/>
          </a:solidFill>
          <a:ln w="12700">
            <a:solidFill>
              <a:srgbClr val="20202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0624" y="3200400"/>
            <a:ext cx="274320" cy="27432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0624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78992" y="31455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779776" y="314553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ist unser System gesichert?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711696" y="31455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ISB, Systembetreiber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47472" y="3566160"/>
            <a:ext cx="8449056" cy="438912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0624" y="3657600"/>
            <a:ext cx="274320" cy="27432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78992" y="36027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Prüfungsplan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2779776" y="360273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prüfen wir — und wie?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711696" y="36027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Auditoren, ISB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47472" y="4023360"/>
            <a:ext cx="8449056" cy="438912"/>
          </a:xfrm>
          <a:prstGeom prst="rect">
            <a:avLst/>
          </a:prstGeom>
          <a:solidFill>
            <a:srgbClr val="202020"/>
          </a:solidFill>
          <a:ln w="12700">
            <a:solidFill>
              <a:srgbClr val="20202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0624" y="4114800"/>
            <a:ext cx="274320" cy="27432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0624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78992" y="40599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Ergebnisse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2779776" y="405993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hat die Prüfung ergeben?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711696" y="40599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Auditoren, ISB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47472" y="4480560"/>
            <a:ext cx="8449056" cy="438912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0624" y="4572000"/>
            <a:ext cx="274320" cy="27432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0624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78992" y="45171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POA&amp;M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2779776" y="451713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bleibt offen — bis wann?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711696" y="45171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ISB, Behördenleitung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D1D1B"/>
          </a:solidFill>
          <a:ln w="12700">
            <a:solidFill>
              <a:srgbClr val="1D1D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54864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kern="0" spc="1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02336" y="0"/>
            <a:ext cx="8339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bedeutet das für uns konkret?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49640" y="146304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822960"/>
            <a:ext cx="4169664" cy="1938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822960"/>
            <a:ext cx="4169664" cy="54864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005840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ISB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" y="1463040"/>
            <a:ext cx="3803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15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Sicherheitsplan entsteht nicht mehr auf der grünen Wiese. Sie importieren fertige, geprüfte Bausteine — und ergänzen nur noch das Systemspezifische.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91456" y="822960"/>
            <a:ext cx="4169664" cy="1938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91456" y="822960"/>
            <a:ext cx="4169664" cy="54864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74336" y="1005840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Behörde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74336" y="1463040"/>
            <a:ext cx="3803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15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 geprüfte </a:t>
            </a:r>
            <a:r>
              <a:rPr lang="en-US" sz="1150" dirty="0" err="1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Komponenten</a:t>
            </a:r>
            <a:r>
              <a:rPr lang="en-US" sz="115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(BSI) </a:t>
            </a:r>
            <a:r>
              <a:rPr lang="en-US" sz="1150" dirty="0" err="1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sparen</a:t>
            </a:r>
            <a:r>
              <a:rPr lang="en-US" sz="115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Ressourcen im ganzen Land. Einheitliche Dokumentation erleichtert behördenübergreifende Audits.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7472" y="2944368"/>
            <a:ext cx="4169664" cy="1938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" y="2944368"/>
            <a:ext cx="4169664" cy="54864"/>
          </a:xfrm>
          <a:prstGeom prst="rect">
            <a:avLst/>
          </a:prstGeom>
          <a:solidFill>
            <a:srgbClr val="1D1D1B"/>
          </a:solidFill>
          <a:ln w="12700">
            <a:solidFill>
              <a:srgbClr val="1D1D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127248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Audit zum Dauerbetrieb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" y="3584448"/>
            <a:ext cx="3803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15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Maschinenlesbare Dokumente erlauben kontinuierliche Prüfung — nicht nur zum nächsten Stichtag. Compliance wird zum laufenden Prozess.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91456" y="2944368"/>
            <a:ext cx="4169664" cy="1938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91456" y="2944368"/>
            <a:ext cx="4169664" cy="54864"/>
          </a:xfrm>
          <a:prstGeom prst="rect">
            <a:avLst/>
          </a:prstGeom>
          <a:solidFill>
            <a:srgbClr val="1D1D1B"/>
          </a:solidFill>
          <a:ln w="12700">
            <a:solidFill>
              <a:srgbClr val="1D1D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4336" y="3127248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Nächster Schritt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74336" y="3584448"/>
            <a:ext cx="3803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15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OSCAL-</a:t>
            </a:r>
            <a:r>
              <a:rPr lang="en-US" sz="1150" dirty="0" err="1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Komponentenbibliothek</a:t>
            </a:r>
            <a:r>
              <a:rPr lang="en-US" sz="115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aufbauen. Erste Komponente: ….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47472" y="4645152"/>
            <a:ext cx="8449056" cy="384048"/>
          </a:xfrm>
          <a:prstGeom prst="rect">
            <a:avLst/>
          </a:prstGeom>
          <a:solidFill>
            <a:srgbClr val="1D1D1B"/>
          </a:solidFill>
          <a:ln w="12700">
            <a:solidFill>
              <a:srgbClr val="1D1D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645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Komponenten sind der Schlüssel zum automatisierten, wiederverwendbaren und kontinuierlichen Sicherheitsmanagement.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1331</Words>
  <Application>Microsoft Office PowerPoint</Application>
  <PresentationFormat>Bildschirmpräsentation (16:9)</PresentationFormat>
  <Paragraphs>223</Paragraphs>
  <Slides>10</Slides>
  <Notes>10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Einführung für ISB und Verwaltungsverantwortliche</dc:subject>
  <dc:creator/>
  <cp:lastModifiedBy>Albert, Markus (FITKO)</cp:lastModifiedBy>
  <cp:revision>12</cp:revision>
  <dcterms:created xsi:type="dcterms:W3CDTF">2026-06-11T05:37:00Z</dcterms:created>
  <dcterms:modified xsi:type="dcterms:W3CDTF">2026-06-15T04:58:42Z</dcterms:modified>
</cp:coreProperties>
</file>